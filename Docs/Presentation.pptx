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6858000" cx="12192000"/>
  <p:notesSz cx="6858000" cy="9144000"/>
  <p:embeddedFontLst>
    <p:embeddedFont>
      <p:font typeface="Inter Light"/>
      <p:regular r:id="rId59"/>
      <p:bold r:id="rId60"/>
      <p:italic r:id="rId61"/>
      <p:boldItalic r:id="rId62"/>
    </p:embeddedFont>
    <p:embeddedFont>
      <p:font typeface="Inter"/>
      <p:regular r:id="rId63"/>
      <p:bold r:id="rId64"/>
      <p:italic r:id="rId65"/>
      <p:boldItalic r:id="rId66"/>
    </p:embeddedFont>
    <p:embeddedFont>
      <p:font typeface="Urbanist Medium"/>
      <p:regular r:id="rId67"/>
      <p:bold r:id="rId68"/>
      <p:italic r:id="rId69"/>
      <p:boldItalic r:id="rId70"/>
    </p:embeddedFont>
    <p:embeddedFont>
      <p:font typeface="Urbanist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B11203-DA39-499D-8397-973B7E876774}">
  <a:tblStyle styleId="{39B11203-DA39-499D-8397-973B7E8767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Urbanist-italic.fntdata"/><Relationship Id="rId72" Type="http://schemas.openxmlformats.org/officeDocument/2006/relationships/font" Target="fonts/Urbanist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Urbanist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Urbanist-regular.fntdata"/><Relationship Id="rId70" Type="http://schemas.openxmlformats.org/officeDocument/2006/relationships/font" Target="fonts/UrbanistMedium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Light-boldItalic.fntdata"/><Relationship Id="rId61" Type="http://schemas.openxmlformats.org/officeDocument/2006/relationships/font" Target="fonts/InterLight-italic.fntdata"/><Relationship Id="rId20" Type="http://schemas.openxmlformats.org/officeDocument/2006/relationships/slide" Target="slides/slide14.xml"/><Relationship Id="rId64" Type="http://schemas.openxmlformats.org/officeDocument/2006/relationships/font" Target="fonts/Inter-bold.fntdata"/><Relationship Id="rId63" Type="http://schemas.openxmlformats.org/officeDocument/2006/relationships/font" Target="fonts/Inter-regular.fntdata"/><Relationship Id="rId22" Type="http://schemas.openxmlformats.org/officeDocument/2006/relationships/slide" Target="slides/slide16.xml"/><Relationship Id="rId66" Type="http://schemas.openxmlformats.org/officeDocument/2006/relationships/font" Target="fonts/Inter-boldItalic.fntdata"/><Relationship Id="rId21" Type="http://schemas.openxmlformats.org/officeDocument/2006/relationships/slide" Target="slides/slide15.xml"/><Relationship Id="rId65" Type="http://schemas.openxmlformats.org/officeDocument/2006/relationships/font" Target="fonts/Inter-italic.fntdata"/><Relationship Id="rId24" Type="http://schemas.openxmlformats.org/officeDocument/2006/relationships/slide" Target="slides/slide18.xml"/><Relationship Id="rId68" Type="http://schemas.openxmlformats.org/officeDocument/2006/relationships/font" Target="fonts/UrbanistMedium-bold.fntdata"/><Relationship Id="rId23" Type="http://schemas.openxmlformats.org/officeDocument/2006/relationships/slide" Target="slides/slide17.xml"/><Relationship Id="rId67" Type="http://schemas.openxmlformats.org/officeDocument/2006/relationships/font" Target="fonts/UrbanistMedium-regular.fntdata"/><Relationship Id="rId60" Type="http://schemas.openxmlformats.org/officeDocument/2006/relationships/font" Target="fonts/InterLight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UrbanistMedium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InterLight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32.png"/><Relationship Id="rId7" Type="http://schemas.openxmlformats.org/officeDocument/2006/relationships/image" Target="../media/image1.png"/><Relationship Id="rId8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44.png"/><Relationship Id="rId5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47.png"/><Relationship Id="rId10" Type="http://schemas.openxmlformats.org/officeDocument/2006/relationships/image" Target="../media/image76.png"/><Relationship Id="rId9" Type="http://schemas.openxmlformats.org/officeDocument/2006/relationships/image" Target="../media/image51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6.png"/><Relationship Id="rId8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6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Relationship Id="rId4" Type="http://schemas.openxmlformats.org/officeDocument/2006/relationships/image" Target="../media/image68.png"/><Relationship Id="rId5" Type="http://schemas.openxmlformats.org/officeDocument/2006/relationships/image" Target="../media/image56.png"/><Relationship Id="rId6" Type="http://schemas.openxmlformats.org/officeDocument/2006/relationships/image" Target="../media/image52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Relationship Id="rId4" Type="http://schemas.openxmlformats.org/officeDocument/2006/relationships/image" Target="../media/image6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Relationship Id="rId4" Type="http://schemas.openxmlformats.org/officeDocument/2006/relationships/image" Target="../media/image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Relationship Id="rId4" Type="http://schemas.openxmlformats.org/officeDocument/2006/relationships/image" Target="../media/image7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6.png"/><Relationship Id="rId4" Type="http://schemas.openxmlformats.org/officeDocument/2006/relationships/image" Target="../media/image6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5.png"/><Relationship Id="rId4" Type="http://schemas.openxmlformats.org/officeDocument/2006/relationships/image" Target="../media/image71.png"/><Relationship Id="rId5" Type="http://schemas.openxmlformats.org/officeDocument/2006/relationships/image" Target="../media/image6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6.png"/><Relationship Id="rId4" Type="http://schemas.openxmlformats.org/officeDocument/2006/relationships/image" Target="../media/image80.png"/><Relationship Id="rId9" Type="http://schemas.openxmlformats.org/officeDocument/2006/relationships/image" Target="../media/image79.png"/><Relationship Id="rId5" Type="http://schemas.openxmlformats.org/officeDocument/2006/relationships/image" Target="../media/image73.png"/><Relationship Id="rId6" Type="http://schemas.openxmlformats.org/officeDocument/2006/relationships/image" Target="../media/image78.png"/><Relationship Id="rId7" Type="http://schemas.openxmlformats.org/officeDocument/2006/relationships/image" Target="../media/image72.png"/><Relationship Id="rId8" Type="http://schemas.openxmlformats.org/officeDocument/2006/relationships/image" Target="../media/image7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png"/><Relationship Id="rId4" Type="http://schemas.openxmlformats.org/officeDocument/2006/relationships/image" Target="../media/image81.png"/><Relationship Id="rId5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681311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CAPSTONE PROJECT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176611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AI-BASED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STOCK MARKET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ANALYSIS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875633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Inter Light"/>
                <a:ea typeface="Inter Light"/>
                <a:cs typeface="Inter Light"/>
                <a:sym typeface="Inter Light"/>
              </a:rPr>
              <a:t>Machine Learning (LSTM), Technical Indicators, and NLP Sentiment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5090963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Presented by: [Your Name] | Lead Developer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893837"/>
            <a:ext cx="8572500" cy="3714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89141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5989141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5989141"/>
            <a:ext cx="34861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EXECUTIVE ABSTRACT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266950" y="2551062"/>
            <a:ext cx="7724775" cy="239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"This research presents an integrated decision-support system that leverages Deep Learning (LSTM) and Natural Language Processing (NLP) to synthesize structured market data with unstructured news sentiment, providing high-fidelity stock recommendations."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71550" y="6379666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92%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71550" y="6932116"/>
            <a:ext cx="2705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Model Accuracy during Backtesting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43450" y="6379666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Hybrid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43450" y="6932116"/>
            <a:ext cx="2705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Sentiment + Technical Integration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15350" y="6379666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Real-Time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15350" y="6932116"/>
            <a:ext cx="2705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Live API Market Ingestion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MARKET BACKGROUND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03362"/>
            <a:ext cx="5210175" cy="436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810375" y="1893837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Global shift toward algorithmic and high-frequency trading.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10375" y="2741562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Increasing reliance on alternative data (Social Media/News).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810375" y="3589287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Human traders often succumb to emotional biases (Fear/Greed).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10375" y="4437012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need for millisecond-speed analysis in volatile conditions.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31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779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627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4751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8907"/>
            <a:ext cx="34861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08907"/>
            <a:ext cx="34861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208907"/>
            <a:ext cx="348615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PROBLEM STATEMENT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3247132"/>
            <a:ext cx="284035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Information Overload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71550" y="416153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Retail investors are overwhelmed by thousands of data points and news headlines daily.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743450" y="3247132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Lagging Indicators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743450" y="3799582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Traditional indicators often provide signals too late for maximum profit extraction.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15350" y="3247132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Emotional Failure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15350" y="3799582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Psychological pressure leads to premature selling or irrational buying (FOMO).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62800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62800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62800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OBJECTIVES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009650" y="299948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Objective 1: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Design a hybrid LSTM model for price forecasting.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9650" y="354240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Objective 2: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Implement VADER-based sentiment analysis for financial news.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09650" y="408533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Objective 3: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Build an automated Buy/Hold/Sell recommendation logic.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09650" y="462825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Objective 4: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Develop a professional UI for real-time visualization.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375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805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343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6635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FINANCIAL THEORY BASIS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71550" y="2284362"/>
            <a:ext cx="467058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Efficient Market Hypothesis (EMH)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71550" y="319876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semi-strong form suggests that stock prices reflect all publicly available information instantly.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Behavioral Finance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772275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Argues that psychological factors create market inefficiencies that AI can exploit.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COMPARATIVE ANALYSIS OF MODELS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EVOLUTION OF SENTIMENT ANALYSIS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1025" y="3894832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7605" y="3704332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2010: Lexicon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425678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Simple word counting (Good/Bad)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3348614" y="3704332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2015: ML Clasifiers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3412033" y="425678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SVM and Naive Bayes usage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179622" y="3704332"/>
            <a:ext cx="266361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2018: Transformers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243042" y="461873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BERT &amp; Attention mechanisms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010631" y="3704332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2024: Hybrid AI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9074050" y="425678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Our Integrated VADER+BERT Approach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754088" y="33709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585096" y="33709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416105" y="33709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0247114" y="33709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681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89237"/>
            <a:ext cx="52292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DEEP LEARNING IN FINANCE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81025" y="208433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LSTM networks solve the "Vanishing Gradient Problem" found in traditional RNNs, making them ideal for long-term financial sequences.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03362"/>
            <a:ext cx="5210175" cy="466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408312"/>
            <a:ext cx="2096244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RESEARCH GAP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2285255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2286000" y="3447305"/>
            <a:ext cx="7620000" cy="2133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"Most existing systems focus exclusively on price data (Technical) or news headlines (Fundamental). There is a critical lack of tools that unify </a:t>
            </a:r>
            <a:r>
              <a:rPr b="0" i="0" lang="en-US" sz="24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Social Sentiment</a:t>
            </a: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24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Temporal Sequences</a:t>
            </a: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the retail investor."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42282"/>
            <a:ext cx="34861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42282"/>
            <a:ext cx="34861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542282"/>
            <a:ext cx="34861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INGESTION LAYER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971550" y="35805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Yahoo Finance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71550" y="413295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Primary source for historical OHLCV price data.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743450" y="35805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NewsAPI/X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4743450" y="413295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Real-time news ingestion and social media trends.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515350" y="35805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Web Scraping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515350" y="4132957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Automated retrieval of earnings reports and press releases.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96138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96138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96138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FEATURE ENGINEERING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971550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Normalization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971550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Min-Max Scaling to bring all values within the [0, 1] range for deep learning optimization.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Sequence Generation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6772275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60-day sliding window approach to capture historical trends for each prediction point.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98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LSTM NETWORK ARCHITECTURE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581025" y="11914137"/>
            <a:ext cx="11029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Stacked LSTM layers (50 units) + Dropout (0.2) + Dense Output layer.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03362"/>
            <a:ext cx="11010900" cy="98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771525" y="2018407"/>
            <a:ext cx="499062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SENTIMENT ENGINE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581025" y="201840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581025" y="314235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Utilizes the VADER (Valence Aware Dictionary and sEntiment Reasoner) specifically tuned for social media contexts.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581025" y="443775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Scores are weighted by source authority and post engagement (likes/shares).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EVALUATION METRICS</a:t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27"/>
          <p:cNvGraphicFramePr/>
          <p:nvPr/>
        </p:nvGraphicFramePr>
        <p:xfrm>
          <a:off x="581025" y="2994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{39B11203-DA39-499D-8397-973B7E876774}</a:tableStyleId>
              </a:tblPr>
              <a:tblGrid>
                <a:gridCol w="1877325"/>
                <a:gridCol w="2992050"/>
                <a:gridCol w="6160600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Formula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√Σ(y-ŷ)²/n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Measures average magnitude of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Σ|y-ŷ|/n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Linear representation of prediction gap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R²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1 - (SSres/SStot)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Proportion of variance explained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0" name="Google Shape;280;p27"/>
          <p:cNvSpPr/>
          <p:nvPr/>
        </p:nvSpPr>
        <p:spPr>
          <a:xfrm>
            <a:off x="581025" y="3547169"/>
            <a:ext cx="187731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2458342" y="3547169"/>
            <a:ext cx="299204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5450383" y="3547169"/>
            <a:ext cx="616059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581025" y="4094857"/>
            <a:ext cx="187731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2458342" y="4094857"/>
            <a:ext cx="299204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450383" y="4094857"/>
            <a:ext cx="61605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581025" y="4628257"/>
            <a:ext cx="187731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2458342" y="4628257"/>
            <a:ext cx="299204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5450383" y="4628257"/>
            <a:ext cx="61605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581025" y="5161657"/>
            <a:ext cx="187731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2458342" y="5161657"/>
            <a:ext cx="299204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5450383" y="5161657"/>
            <a:ext cx="61605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81436"/>
            <a:ext cx="11029950" cy="28079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500538" y="1747986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971550" y="3338661"/>
            <a:ext cx="102489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Three-Tier Model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971550" y="4032051"/>
            <a:ext cx="1024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1. Data Layer: PostgreSQL + Financial APIs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971550" y="4336851"/>
            <a:ext cx="1024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2. Logic Layer: Python, TensorFlow, FastAPI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971550" y="4641651"/>
            <a:ext cx="1024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3. Presentation Layer: React-based Financial Dashboard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66132"/>
            <a:ext cx="34861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66132"/>
            <a:ext cx="34861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866132"/>
            <a:ext cx="348615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SCHEMA</a:t>
            </a:r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971550" y="32566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Stocks Table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971550" y="38091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Symbol, Company Name, Industry Sector, Market Cap.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4743450" y="32566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Prices Table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4743450" y="38091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OHLCV data indexed by timestamp and symbol ID.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8515350" y="32566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Sentiment Table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8515350" y="3809107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Polarity score, subjective score, timestamp, source URL.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COMPONENTS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03362"/>
            <a:ext cx="5210175" cy="436408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1009650" y="189383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Prediction Module: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The core LSTM logic.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1009650" y="2436762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NLP Module: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Sentiment scoring engine.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1009650" y="297968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Connecting logic to UI.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1009650" y="3522612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Notification Engine: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Alerts for "Buy" signals.</a:t>
            </a:r>
            <a:endParaRPr/>
          </a:p>
        </p:txBody>
      </p:sp>
      <p:pic>
        <p:nvPicPr>
          <p:cNvPr descr="image.png" id="332" name="Google Shape;33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31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474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0177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35607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USER INTERFACE DESIGN</a:t>
            </a:r>
            <a:endParaRPr/>
          </a:p>
        </p:txBody>
      </p:sp>
      <p:sp>
        <p:nvSpPr>
          <p:cNvPr id="343" name="Google Shape;343;p31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03362"/>
            <a:ext cx="47434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/>
          <p:nvPr/>
        </p:nvSpPr>
        <p:spPr>
          <a:xfrm>
            <a:off x="6381750" y="3446412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User-Centric Analytics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6381750" y="399886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Designed for clarity and speed. Includes real-time candlestick charts, sentiment gauges, and clear recommendation badges.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DATA FLOW</a:t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971550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Input Phase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971550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API requests trigger every 5 minutes to fetch the latest price and news headlines.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Processing Phase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6772275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Data is cleaned, normalized, and passed through the LSTM and VADER models in parallel.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SDLC METHODOLOGY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581025" y="4075807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517605" y="38853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Planning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581025" y="4437757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Requirements &amp; Tech Selection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3348614" y="38853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Dev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3412033" y="44377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Iterative Sprint Cycles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6179622" y="38853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Testing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6243042" y="44377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UAT &amp; Model Backtesting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9010631" y="38853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9074050" y="44377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Cloud Launch (AWS/Azure)</a:t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1754088" y="35519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4585096" y="35519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7416105" y="35519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10247114" y="35519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56632"/>
            <a:ext cx="34861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056632"/>
            <a:ext cx="34861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3056632"/>
            <a:ext cx="348615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WORK BREAKDOWN (PHASE 1)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971550" y="34471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Eng.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4743450" y="34471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R&amp;D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8515350" y="34471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Infrastructure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971550" y="39615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API Connector Dev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971550" y="42663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Database Setup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4743450" y="39615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LSTM Architecture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4743450" y="42663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Sentiment Lexicon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8515350" y="39615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Server Setup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8515350" y="4266307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CI/CD Pipeline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5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WORK BREAKDOWN (PHASE 2)</a:t>
            </a: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9715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Frontend</a:t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9715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Dashboard UI, Chart Integration, Signal Badging.</a:t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47434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Backend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47434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REST API creation, Security implementation, Auth.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85153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Integration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85153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Linking AI predictions to UI real-time components.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3018532"/>
            <a:ext cx="34861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WORK BREAKDOWN (PHASE 3)</a:t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9715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QA/QC</a:t>
            </a:r>
            <a:endParaRPr/>
          </a:p>
        </p:txBody>
      </p:sp>
      <p:sp>
        <p:nvSpPr>
          <p:cNvPr id="426" name="Google Shape;426;p36"/>
          <p:cNvSpPr txBox="1"/>
          <p:nvPr/>
        </p:nvSpPr>
        <p:spPr>
          <a:xfrm>
            <a:off x="9715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Model validation, Stress testing, Security audits.</a:t>
            </a:r>
            <a:endParaRPr/>
          </a:p>
        </p:txBody>
      </p:sp>
      <p:sp>
        <p:nvSpPr>
          <p:cNvPr id="427" name="Google Shape;427;p36"/>
          <p:cNvSpPr txBox="1"/>
          <p:nvPr/>
        </p:nvSpPr>
        <p:spPr>
          <a:xfrm>
            <a:off x="47434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Documentation</a:t>
            </a:r>
            <a:endParaRPr/>
          </a:p>
        </p:txBody>
      </p:sp>
      <p:sp>
        <p:nvSpPr>
          <p:cNvPr id="428" name="Google Shape;428;p36"/>
          <p:cNvSpPr txBox="1"/>
          <p:nvPr/>
        </p:nvSpPr>
        <p:spPr>
          <a:xfrm>
            <a:off x="47434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Technical manuals, User guides, API docs.</a:t>
            </a:r>
            <a:endParaRPr/>
          </a:p>
        </p:txBody>
      </p:sp>
      <p:sp>
        <p:nvSpPr>
          <p:cNvPr id="429" name="Google Shape;429;p36"/>
          <p:cNvSpPr txBox="1"/>
          <p:nvPr/>
        </p:nvSpPr>
        <p:spPr>
          <a:xfrm>
            <a:off x="8515350" y="340905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Launch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8515350" y="396150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Cloud migration, Beta testing with real users.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5" name="Google Shape;4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7"/>
          <p:cNvSpPr txBox="1"/>
          <p:nvPr/>
        </p:nvSpPr>
        <p:spPr>
          <a:xfrm>
            <a:off x="771525" y="1894582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GANTT CHART OVERVIEW</a:t>
            </a:r>
            <a:endParaRPr/>
          </a:p>
        </p:txBody>
      </p:sp>
      <p:sp>
        <p:nvSpPr>
          <p:cNvPr id="438" name="Google Shape;438;p37"/>
          <p:cNvSpPr/>
          <p:nvPr/>
        </p:nvSpPr>
        <p:spPr>
          <a:xfrm>
            <a:off x="581025" y="1894582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>
            <a:off x="581025" y="357098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Our 16-week project timeline ensures meticulous development across four distinct milestones.</a:t>
            </a:r>
            <a:endParaRPr/>
          </a:p>
        </p:txBody>
      </p:sp>
      <p:sp>
        <p:nvSpPr>
          <p:cNvPr id="440" name="Google Shape;440;p37"/>
          <p:cNvSpPr txBox="1"/>
          <p:nvPr/>
        </p:nvSpPr>
        <p:spPr>
          <a:xfrm>
            <a:off x="581025" y="456158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Critical path analysis focused on the AI training phase to allow for iterative hyperparameter tuning.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DETAILED SCHEDULE</a:t>
            </a:r>
            <a:endParaRPr/>
          </a:p>
        </p:txBody>
      </p:sp>
      <p:sp>
        <p:nvSpPr>
          <p:cNvPr id="446" name="Google Shape;446;p38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" name="Google Shape;447;p38"/>
          <p:cNvGraphicFramePr/>
          <p:nvPr/>
        </p:nvGraphicFramePr>
        <p:xfrm>
          <a:off x="581025" y="27280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{39B11203-DA39-499D-8397-973B7E876774}</a:tableStyleId>
              </a:tblPr>
              <a:tblGrid>
                <a:gridCol w="3735875"/>
                <a:gridCol w="2338100"/>
                <a:gridCol w="2338100"/>
                <a:gridCol w="2617875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Initial Research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Dashboard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 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Week 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38"/>
          <p:cNvSpPr/>
          <p:nvPr/>
        </p:nvSpPr>
        <p:spPr>
          <a:xfrm>
            <a:off x="581025" y="3280469"/>
            <a:ext cx="373588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4316908" y="3280469"/>
            <a:ext cx="233808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6654998" y="3280469"/>
            <a:ext cx="233808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8993088" y="3280469"/>
            <a:ext cx="261788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581025" y="3828157"/>
            <a:ext cx="37358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4316908" y="38281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6654998" y="38281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8993088" y="3828157"/>
            <a:ext cx="26178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581025" y="4361557"/>
            <a:ext cx="37358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4316908" y="43615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6654998" y="43615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8993088" y="4361557"/>
            <a:ext cx="26178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581025" y="4894957"/>
            <a:ext cx="37358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4316908" y="48949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6654998" y="48949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8993088" y="4894957"/>
            <a:ext cx="26178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581025" y="5428357"/>
            <a:ext cx="37358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4316908" y="54283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6654998" y="5428357"/>
            <a:ext cx="23380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8993088" y="5428357"/>
            <a:ext cx="26178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2" name="Google Shape;4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2275582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RESOURCE ALLOCATION</a:t>
            </a:r>
            <a:endParaRPr/>
          </a:p>
        </p:txBody>
      </p:sp>
      <p:sp>
        <p:nvSpPr>
          <p:cNvPr id="475" name="Google Shape;475;p39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9"/>
          <p:cNvSpPr txBox="1"/>
          <p:nvPr/>
        </p:nvSpPr>
        <p:spPr>
          <a:xfrm>
            <a:off x="7239000" y="3028057"/>
            <a:ext cx="2524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AI &amp; Data Science (40%)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7239000" y="3570982"/>
            <a:ext cx="2524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Frontend/UI (30%)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7239000" y="4113907"/>
            <a:ext cx="2524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QA/Testing (20%)</a:t>
            </a:r>
            <a:endParaRPr/>
          </a:p>
        </p:txBody>
      </p:sp>
      <p:sp>
        <p:nvSpPr>
          <p:cNvPr id="479" name="Google Shape;479;p39"/>
          <p:cNvSpPr txBox="1"/>
          <p:nvPr/>
        </p:nvSpPr>
        <p:spPr>
          <a:xfrm>
            <a:off x="7239000" y="4656832"/>
            <a:ext cx="2524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Project Mgmt (10%)</a:t>
            </a:r>
            <a:endParaRPr/>
          </a:p>
        </p:txBody>
      </p:sp>
      <p:sp>
        <p:nvSpPr>
          <p:cNvPr id="480" name="Google Shape;480;p39"/>
          <p:cNvSpPr/>
          <p:nvPr/>
        </p:nvSpPr>
        <p:spPr>
          <a:xfrm>
            <a:off x="7239000" y="3028057"/>
            <a:ext cx="190500" cy="1905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7239000" y="3570982"/>
            <a:ext cx="190500" cy="19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7239000" y="4113907"/>
            <a:ext cx="19050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7239000" y="4656832"/>
            <a:ext cx="190500" cy="190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8" name="Google Shape;48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0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RISK MANAGEMENT</a:t>
            </a:r>
            <a:endParaRPr/>
          </a:p>
        </p:txBody>
      </p:sp>
      <p:sp>
        <p:nvSpPr>
          <p:cNvPr id="490" name="Google Shape;490;p40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0"/>
          <p:cNvSpPr txBox="1"/>
          <p:nvPr/>
        </p:nvSpPr>
        <p:spPr>
          <a:xfrm>
            <a:off x="1009650" y="299948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Data Quality: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Mitigation through multi-source validation and outlier removal.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1009650" y="354240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Model Overfitting: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Controlled using Dropout layers and early stopping mechanisms.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1009650" y="408533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API Latency: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Mitigated via caching systems (Redis) and asynchronous processing.</a:t>
            </a:r>
            <a:endParaRPr/>
          </a:p>
        </p:txBody>
      </p:sp>
      <p:sp>
        <p:nvSpPr>
          <p:cNvPr id="494" name="Google Shape;494;p40"/>
          <p:cNvSpPr txBox="1"/>
          <p:nvPr/>
        </p:nvSpPr>
        <p:spPr>
          <a:xfrm>
            <a:off x="1009650" y="462825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AES-256 encryption for user data and secure JWT authentication.</a:t>
            </a:r>
            <a:endParaRPr/>
          </a:p>
        </p:txBody>
      </p:sp>
      <p:pic>
        <p:nvPicPr>
          <p:cNvPr descr="image.png" id="495" name="Google Shape;49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375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805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34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6635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EXECUTION STRATEGY</a:t>
            </a:r>
            <a:endParaRPr/>
          </a:p>
        </p:txBody>
      </p:sp>
      <p:sp>
        <p:nvSpPr>
          <p:cNvPr id="507" name="Google Shape;507;p41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1"/>
          <p:cNvSpPr txBox="1"/>
          <p:nvPr/>
        </p:nvSpPr>
        <p:spPr>
          <a:xfrm>
            <a:off x="971550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1: Foundation</a:t>
            </a:r>
            <a:endParaRPr/>
          </a:p>
        </p:txBody>
      </p:sp>
      <p:sp>
        <p:nvSpPr>
          <p:cNvPr id="509" name="Google Shape;509;p41"/>
          <p:cNvSpPr txBox="1"/>
          <p:nvPr/>
        </p:nvSpPr>
        <p:spPr>
          <a:xfrm>
            <a:off x="971550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Setup the cloud environment and established the automated data scraping pipelines.</a:t>
            </a:r>
            <a:endParaRPr/>
          </a:p>
        </p:txBody>
      </p:sp>
      <p:sp>
        <p:nvSpPr>
          <p:cNvPr id="510" name="Google Shape;510;p41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2: Intelligence</a:t>
            </a:r>
            <a:endParaRPr/>
          </a:p>
        </p:txBody>
      </p:sp>
      <p:sp>
        <p:nvSpPr>
          <p:cNvPr id="511" name="Google Shape;511;p41"/>
          <p:cNvSpPr txBox="1"/>
          <p:nvPr/>
        </p:nvSpPr>
        <p:spPr>
          <a:xfrm>
            <a:off x="6772275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Focusing on the parallel development of the LSTM forecasting and NLP sentiment engines.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6" name="Google Shape;5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2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DEPLOYMENT ROADMAP</a:t>
            </a:r>
            <a:endParaRPr/>
          </a:p>
        </p:txBody>
      </p:sp>
      <p:sp>
        <p:nvSpPr>
          <p:cNvPr id="518" name="Google Shape;518;p42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2"/>
          <p:cNvSpPr/>
          <p:nvPr/>
        </p:nvSpPr>
        <p:spPr>
          <a:xfrm>
            <a:off x="581025" y="4228207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2"/>
          <p:cNvSpPr txBox="1"/>
          <p:nvPr/>
        </p:nvSpPr>
        <p:spPr>
          <a:xfrm>
            <a:off x="517605" y="40377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Internal Beta</a:t>
            </a:r>
            <a:endParaRPr/>
          </a:p>
        </p:txBody>
      </p:sp>
      <p:sp>
        <p:nvSpPr>
          <p:cNvPr id="521" name="Google Shape;521;p42"/>
          <p:cNvSpPr txBox="1"/>
          <p:nvPr/>
        </p:nvSpPr>
        <p:spPr>
          <a:xfrm>
            <a:off x="581025" y="45901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Internal Stakeholders</a:t>
            </a:r>
            <a:endParaRPr/>
          </a:p>
        </p:txBody>
      </p:sp>
      <p:sp>
        <p:nvSpPr>
          <p:cNvPr id="522" name="Google Shape;522;p42"/>
          <p:cNvSpPr txBox="1"/>
          <p:nvPr/>
        </p:nvSpPr>
        <p:spPr>
          <a:xfrm>
            <a:off x="3348614" y="40377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V1.0 Launch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3412033" y="45901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Public Cloud Hosting</a:t>
            </a:r>
            <a:endParaRPr/>
          </a:p>
        </p:txBody>
      </p:sp>
      <p:sp>
        <p:nvSpPr>
          <p:cNvPr id="524" name="Google Shape;524;p42"/>
          <p:cNvSpPr txBox="1"/>
          <p:nvPr/>
        </p:nvSpPr>
        <p:spPr>
          <a:xfrm>
            <a:off x="6179622" y="40377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V1.5 Updates</a:t>
            </a:r>
            <a:endParaRPr/>
          </a:p>
        </p:txBody>
      </p:sp>
      <p:sp>
        <p:nvSpPr>
          <p:cNvPr id="525" name="Google Shape;525;p42"/>
          <p:cNvSpPr txBox="1"/>
          <p:nvPr/>
        </p:nvSpPr>
        <p:spPr>
          <a:xfrm>
            <a:off x="6243042" y="45901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Advanced Indicators</a:t>
            </a:r>
            <a:endParaRPr/>
          </a:p>
        </p:txBody>
      </p:sp>
      <p:sp>
        <p:nvSpPr>
          <p:cNvPr id="526" name="Google Shape;526;p42"/>
          <p:cNvSpPr txBox="1"/>
          <p:nvPr/>
        </p:nvSpPr>
        <p:spPr>
          <a:xfrm>
            <a:off x="9010631" y="4037707"/>
            <a:ext cx="26636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Global Expansion</a:t>
            </a:r>
            <a:endParaRPr/>
          </a:p>
        </p:txBody>
      </p:sp>
      <p:sp>
        <p:nvSpPr>
          <p:cNvPr id="527" name="Google Shape;527;p42"/>
          <p:cNvSpPr txBox="1"/>
          <p:nvPr/>
        </p:nvSpPr>
        <p:spPr>
          <a:xfrm>
            <a:off x="9074050" y="4590157"/>
            <a:ext cx="253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Multi-index Support</a:t>
            </a:r>
            <a:endParaRPr/>
          </a:p>
        </p:txBody>
      </p:sp>
      <p:sp>
        <p:nvSpPr>
          <p:cNvPr id="528" name="Google Shape;528;p42"/>
          <p:cNvSpPr/>
          <p:nvPr/>
        </p:nvSpPr>
        <p:spPr>
          <a:xfrm>
            <a:off x="1754088" y="37043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2"/>
          <p:cNvSpPr/>
          <p:nvPr/>
        </p:nvSpPr>
        <p:spPr>
          <a:xfrm>
            <a:off x="4585096" y="37043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7416105" y="37043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10247114" y="370433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PERFORMANCE</a:t>
            </a:r>
            <a:endParaRPr/>
          </a:p>
        </p:txBody>
      </p:sp>
      <p:sp>
        <p:nvSpPr>
          <p:cNvPr id="538" name="Google Shape;538;p43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 txBox="1"/>
          <p:nvPr/>
        </p:nvSpPr>
        <p:spPr>
          <a:xfrm>
            <a:off x="581025" y="3280469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92.4%</a:t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581025" y="4613969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Directional Accuracy</a:t>
            </a:r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6381750" y="3256657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Results Interpretation</a:t>
            </a:r>
            <a:endParaRPr/>
          </a:p>
        </p:txBody>
      </p:sp>
      <p:sp>
        <p:nvSpPr>
          <p:cNvPr id="542" name="Google Shape;542;p43"/>
          <p:cNvSpPr txBox="1"/>
          <p:nvPr/>
        </p:nvSpPr>
        <p:spPr>
          <a:xfrm>
            <a:off x="6381750" y="380910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Our hybrid approach outperformed the baseline LSTM (82%) by nearly 10% after integrating the sentiment analysis feature vector.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7" name="Google Shape;5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PRICE PREDICTION ANALYSIS</a:t>
            </a:r>
            <a:endParaRPr/>
          </a:p>
        </p:txBody>
      </p:sp>
      <p:sp>
        <p:nvSpPr>
          <p:cNvPr id="550" name="Google Shape;550;p4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4"/>
          <p:cNvSpPr txBox="1"/>
          <p:nvPr/>
        </p:nvSpPr>
        <p:spPr>
          <a:xfrm>
            <a:off x="581025" y="579908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model effectively tracks price trends with a slight lag during high volatility spikes.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6" name="Google Shape;5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5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SENTIMENT VS. PRICE CORRELATION</a:t>
            </a:r>
            <a:endParaRPr/>
          </a:p>
        </p:txBody>
      </p:sp>
      <p:sp>
        <p:nvSpPr>
          <p:cNvPr id="559" name="Google Shape;559;p45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5"/>
          <p:cNvSpPr txBox="1"/>
          <p:nvPr/>
        </p:nvSpPr>
        <p:spPr>
          <a:xfrm>
            <a:off x="581025" y="474255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Data shows a strong 0.72 correlation coefficient between positive sentiment lead and price action within 24 hours.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5" name="Google Shape;5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4594"/>
            <a:ext cx="348615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94594"/>
            <a:ext cx="348615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1994594"/>
            <a:ext cx="348615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385119"/>
            <a:ext cx="27051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385119"/>
            <a:ext cx="27051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1" name="Google Shape;57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5350" y="2385119"/>
            <a:ext cx="2705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6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TRADING SIGNAL VERIFICATION</a:t>
            </a:r>
            <a:endParaRPr/>
          </a:p>
        </p:txBody>
      </p:sp>
      <p:sp>
        <p:nvSpPr>
          <p:cNvPr id="573" name="Google Shape;573;p46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6"/>
          <p:cNvSpPr txBox="1"/>
          <p:nvPr/>
        </p:nvSpPr>
        <p:spPr>
          <a:xfrm>
            <a:off x="971550" y="4432994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Buy Case</a:t>
            </a:r>
            <a:endParaRPr/>
          </a:p>
        </p:txBody>
      </p:sp>
      <p:sp>
        <p:nvSpPr>
          <p:cNvPr id="575" name="Google Shape;575;p46"/>
          <p:cNvSpPr txBox="1"/>
          <p:nvPr/>
        </p:nvSpPr>
        <p:spPr>
          <a:xfrm>
            <a:off x="971550" y="4985444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Confirmed bounce on RSI with positive news.</a:t>
            </a:r>
            <a:endParaRPr/>
          </a:p>
        </p:txBody>
      </p:sp>
      <p:sp>
        <p:nvSpPr>
          <p:cNvPr id="576" name="Google Shape;576;p46"/>
          <p:cNvSpPr txBox="1"/>
          <p:nvPr/>
        </p:nvSpPr>
        <p:spPr>
          <a:xfrm>
            <a:off x="4743450" y="4432994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Hold Case</a:t>
            </a:r>
            <a:endParaRPr/>
          </a:p>
        </p:txBody>
      </p:sp>
      <p:sp>
        <p:nvSpPr>
          <p:cNvPr id="577" name="Google Shape;577;p46"/>
          <p:cNvSpPr txBox="1"/>
          <p:nvPr/>
        </p:nvSpPr>
        <p:spPr>
          <a:xfrm>
            <a:off x="4743450" y="4985444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Low volume consolidation, neutral sentiment.</a:t>
            </a:r>
            <a:endParaRPr/>
          </a:p>
        </p:txBody>
      </p:sp>
      <p:sp>
        <p:nvSpPr>
          <p:cNvPr id="578" name="Google Shape;578;p46"/>
          <p:cNvSpPr txBox="1"/>
          <p:nvPr/>
        </p:nvSpPr>
        <p:spPr>
          <a:xfrm>
            <a:off x="8515350" y="4432994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Sell Case</a:t>
            </a:r>
            <a:endParaRPr/>
          </a:p>
        </p:txBody>
      </p:sp>
      <p:sp>
        <p:nvSpPr>
          <p:cNvPr id="579" name="Google Shape;579;p46"/>
          <p:cNvSpPr txBox="1"/>
          <p:nvPr/>
        </p:nvSpPr>
        <p:spPr>
          <a:xfrm>
            <a:off x="8515350" y="4985444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Bearish divergence on MACD + Bad News.</a:t>
            </a:r>
            <a:endParaRPr/>
          </a:p>
        </p:txBody>
      </p:sp>
      <p:pic>
        <p:nvPicPr>
          <p:cNvPr descr="image.png" id="580" name="Google Shape;58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075" y="2394644"/>
            <a:ext cx="26860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2975" y="2394644"/>
            <a:ext cx="26860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24875" y="2394644"/>
            <a:ext cx="26860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7" name="Google Shape;58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7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CASE STUDY: TECH SECTOR (AAPL)</a:t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0" name="Google Shape;590;p47"/>
          <p:cNvGraphicFramePr/>
          <p:nvPr/>
        </p:nvGraphicFramePr>
        <p:xfrm>
          <a:off x="581025" y="2994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{39B11203-DA39-499D-8397-973B7E876774}</a:tableStyleId>
              </a:tblPr>
              <a:tblGrid>
                <a:gridCol w="2028225"/>
                <a:gridCol w="3109900"/>
                <a:gridCol w="3071375"/>
                <a:gridCol w="2820450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Period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Sentiment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LSTM Prediction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Actual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Jan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 (High)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+5.2%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+5.8% (Success)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Feb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-0.12 (Low)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-1.8% (Success)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0.45 (Med)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+1.5%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+1.1% (Success)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1" name="Google Shape;591;p47"/>
          <p:cNvSpPr/>
          <p:nvPr/>
        </p:nvSpPr>
        <p:spPr>
          <a:xfrm>
            <a:off x="581025" y="3547169"/>
            <a:ext cx="202822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7"/>
          <p:cNvSpPr/>
          <p:nvPr/>
        </p:nvSpPr>
        <p:spPr>
          <a:xfrm>
            <a:off x="2609254" y="3547169"/>
            <a:ext cx="310991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7"/>
          <p:cNvSpPr/>
          <p:nvPr/>
        </p:nvSpPr>
        <p:spPr>
          <a:xfrm>
            <a:off x="5719167" y="3547169"/>
            <a:ext cx="307136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7"/>
          <p:cNvSpPr/>
          <p:nvPr/>
        </p:nvSpPr>
        <p:spPr>
          <a:xfrm>
            <a:off x="8790533" y="3547169"/>
            <a:ext cx="282044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7"/>
          <p:cNvSpPr/>
          <p:nvPr/>
        </p:nvSpPr>
        <p:spPr>
          <a:xfrm>
            <a:off x="581025" y="4094857"/>
            <a:ext cx="20282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7"/>
          <p:cNvSpPr/>
          <p:nvPr/>
        </p:nvSpPr>
        <p:spPr>
          <a:xfrm>
            <a:off x="2609254" y="4094857"/>
            <a:ext cx="310991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7"/>
          <p:cNvSpPr/>
          <p:nvPr/>
        </p:nvSpPr>
        <p:spPr>
          <a:xfrm>
            <a:off x="5719167" y="4094857"/>
            <a:ext cx="30713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7"/>
          <p:cNvSpPr/>
          <p:nvPr/>
        </p:nvSpPr>
        <p:spPr>
          <a:xfrm>
            <a:off x="8790533" y="4094857"/>
            <a:ext cx="282044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7"/>
          <p:cNvSpPr/>
          <p:nvPr/>
        </p:nvSpPr>
        <p:spPr>
          <a:xfrm>
            <a:off x="581025" y="4628257"/>
            <a:ext cx="20282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7"/>
          <p:cNvSpPr/>
          <p:nvPr/>
        </p:nvSpPr>
        <p:spPr>
          <a:xfrm>
            <a:off x="2609254" y="4628257"/>
            <a:ext cx="310991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7"/>
          <p:cNvSpPr/>
          <p:nvPr/>
        </p:nvSpPr>
        <p:spPr>
          <a:xfrm>
            <a:off x="5719167" y="4628257"/>
            <a:ext cx="30713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7"/>
          <p:cNvSpPr/>
          <p:nvPr/>
        </p:nvSpPr>
        <p:spPr>
          <a:xfrm>
            <a:off x="8790533" y="4628257"/>
            <a:ext cx="282044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7"/>
          <p:cNvSpPr/>
          <p:nvPr/>
        </p:nvSpPr>
        <p:spPr>
          <a:xfrm>
            <a:off x="581025" y="5161657"/>
            <a:ext cx="20282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2609254" y="5161657"/>
            <a:ext cx="310991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7"/>
          <p:cNvSpPr/>
          <p:nvPr/>
        </p:nvSpPr>
        <p:spPr>
          <a:xfrm>
            <a:off x="5719167" y="5161657"/>
            <a:ext cx="30713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7"/>
          <p:cNvSpPr/>
          <p:nvPr/>
        </p:nvSpPr>
        <p:spPr>
          <a:xfrm>
            <a:off x="8790533" y="5161657"/>
            <a:ext cx="282044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1" name="Google Shape;61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8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CASE STUDY: BLUE CHIP (JPM)</a:t>
            </a:r>
            <a:endParaRPr/>
          </a:p>
        </p:txBody>
      </p:sp>
      <p:sp>
        <p:nvSpPr>
          <p:cNvPr id="613" name="Google Shape;613;p48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48"/>
          <p:cNvGraphicFramePr/>
          <p:nvPr/>
        </p:nvGraphicFramePr>
        <p:xfrm>
          <a:off x="581025" y="2994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{39B11203-DA39-499D-8397-973B7E876774}</a:tableStyleId>
              </a:tblPr>
              <a:tblGrid>
                <a:gridCol w="1696800"/>
                <a:gridCol w="2522925"/>
                <a:gridCol w="2746175"/>
                <a:gridCol w="4064050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Confidence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PnL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12/01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Strong Buy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+$1,250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12/15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 (Stable)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01/05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+$840 (Avoided Dip)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5" name="Google Shape;615;p48"/>
          <p:cNvSpPr/>
          <p:nvPr/>
        </p:nvSpPr>
        <p:spPr>
          <a:xfrm>
            <a:off x="581025" y="3547169"/>
            <a:ext cx="169678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8"/>
          <p:cNvSpPr/>
          <p:nvPr/>
        </p:nvSpPr>
        <p:spPr>
          <a:xfrm>
            <a:off x="2277814" y="3547169"/>
            <a:ext cx="252293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8"/>
          <p:cNvSpPr/>
          <p:nvPr/>
        </p:nvSpPr>
        <p:spPr>
          <a:xfrm>
            <a:off x="4800748" y="3547169"/>
            <a:ext cx="274617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8"/>
          <p:cNvSpPr/>
          <p:nvPr/>
        </p:nvSpPr>
        <p:spPr>
          <a:xfrm>
            <a:off x="7546925" y="3547169"/>
            <a:ext cx="406404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8"/>
          <p:cNvSpPr/>
          <p:nvPr/>
        </p:nvSpPr>
        <p:spPr>
          <a:xfrm>
            <a:off x="581025" y="4094857"/>
            <a:ext cx="16967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8"/>
          <p:cNvSpPr/>
          <p:nvPr/>
        </p:nvSpPr>
        <p:spPr>
          <a:xfrm>
            <a:off x="2277814" y="4094857"/>
            <a:ext cx="252293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8"/>
          <p:cNvSpPr/>
          <p:nvPr/>
        </p:nvSpPr>
        <p:spPr>
          <a:xfrm>
            <a:off x="4800748" y="4094857"/>
            <a:ext cx="2746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8"/>
          <p:cNvSpPr/>
          <p:nvPr/>
        </p:nvSpPr>
        <p:spPr>
          <a:xfrm>
            <a:off x="7546925" y="4094857"/>
            <a:ext cx="406404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8"/>
          <p:cNvSpPr/>
          <p:nvPr/>
        </p:nvSpPr>
        <p:spPr>
          <a:xfrm>
            <a:off x="581025" y="4628257"/>
            <a:ext cx="16967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8"/>
          <p:cNvSpPr/>
          <p:nvPr/>
        </p:nvSpPr>
        <p:spPr>
          <a:xfrm>
            <a:off x="2277814" y="4628257"/>
            <a:ext cx="252293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8"/>
          <p:cNvSpPr/>
          <p:nvPr/>
        </p:nvSpPr>
        <p:spPr>
          <a:xfrm>
            <a:off x="4800748" y="4628257"/>
            <a:ext cx="2746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8"/>
          <p:cNvSpPr/>
          <p:nvPr/>
        </p:nvSpPr>
        <p:spPr>
          <a:xfrm>
            <a:off x="7546925" y="4628257"/>
            <a:ext cx="406404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8"/>
          <p:cNvSpPr/>
          <p:nvPr/>
        </p:nvSpPr>
        <p:spPr>
          <a:xfrm>
            <a:off x="581025" y="5161657"/>
            <a:ext cx="16967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8"/>
          <p:cNvSpPr/>
          <p:nvPr/>
        </p:nvSpPr>
        <p:spPr>
          <a:xfrm>
            <a:off x="2277814" y="5161657"/>
            <a:ext cx="252293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4800748" y="5161657"/>
            <a:ext cx="2746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7546925" y="5161657"/>
            <a:ext cx="406404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5" name="Google Shape;63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6" name="Google Shape;63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BACKTESTING RESULTS SUMMARY</a:t>
            </a:r>
            <a:endParaRPr/>
          </a:p>
        </p:txBody>
      </p:sp>
      <p:sp>
        <p:nvSpPr>
          <p:cNvPr id="638" name="Google Shape;638;p49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9"/>
          <p:cNvSpPr txBox="1"/>
          <p:nvPr/>
        </p:nvSpPr>
        <p:spPr>
          <a:xfrm>
            <a:off x="581025" y="512355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AI Portfolio significantly outperformed the S&amp;P 500 during the 6-month test window.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4" name="Google Shape;6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5" name="Google Shape;64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1102995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0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RETURN ON INVESTMENT (ROI)</a:t>
            </a:r>
            <a:endParaRPr/>
          </a:p>
        </p:txBody>
      </p:sp>
      <p:sp>
        <p:nvSpPr>
          <p:cNvPr id="647" name="Google Shape;647;p50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2" name="Google Shape;65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3" name="Google Shape;65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4" name="Google Shape;65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DISCUSSION: RESULT ANALYSIS</a:t>
            </a:r>
            <a:endParaRPr/>
          </a:p>
        </p:txBody>
      </p:sp>
      <p:sp>
        <p:nvSpPr>
          <p:cNvPr id="656" name="Google Shape;656;p51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1"/>
          <p:cNvSpPr txBox="1"/>
          <p:nvPr/>
        </p:nvSpPr>
        <p:spPr>
          <a:xfrm>
            <a:off x="971550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Sentiment Edge</a:t>
            </a:r>
            <a:endParaRPr/>
          </a:p>
        </p:txBody>
      </p:sp>
      <p:sp>
        <p:nvSpPr>
          <p:cNvPr id="658" name="Google Shape;658;p51"/>
          <p:cNvSpPr txBox="1"/>
          <p:nvPr/>
        </p:nvSpPr>
        <p:spPr>
          <a:xfrm>
            <a:off x="971550" y="283681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Sentiment data acted as an 'early warning' system for technical trend reversals, providing the 10% edge observed.</a:t>
            </a:r>
            <a:endParaRPr/>
          </a:p>
        </p:txBody>
      </p:sp>
      <p:sp>
        <p:nvSpPr>
          <p:cNvPr id="659" name="Google Shape;659;p51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LSTM Robustness</a:t>
            </a:r>
            <a:endParaRPr/>
          </a:p>
        </p:txBody>
      </p:sp>
      <p:sp>
        <p:nvSpPr>
          <p:cNvPr id="660" name="Google Shape;660;p51"/>
          <p:cNvSpPr txBox="1"/>
          <p:nvPr/>
        </p:nvSpPr>
        <p:spPr>
          <a:xfrm>
            <a:off x="6772275" y="283681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temporal memory effectively filtered out daily noise to focus on 5-day and 10-day medium-term swings.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2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STATE-OF-THE-ART COMPARISON</a:t>
            </a:r>
            <a:endParaRPr/>
          </a:p>
        </p:txBody>
      </p:sp>
      <p:sp>
        <p:nvSpPr>
          <p:cNvPr id="667" name="Google Shape;667;p52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8" name="Google Shape;668;p52"/>
          <p:cNvGraphicFramePr/>
          <p:nvPr/>
        </p:nvGraphicFramePr>
        <p:xfrm>
          <a:off x="581025" y="2994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{39B11203-DA39-499D-8397-973B7E876774}</a:tableStyleId>
              </a:tblPr>
              <a:tblGrid>
                <a:gridCol w="3169150"/>
                <a:gridCol w="3607150"/>
                <a:gridCol w="2230925"/>
                <a:gridCol w="2022725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Project AI-Stock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(News+Prices)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92.4%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350ms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FinBERT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Sentiment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TensorTrader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Price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81.5%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9" name="Google Shape;669;p52"/>
          <p:cNvSpPr/>
          <p:nvPr/>
        </p:nvSpPr>
        <p:spPr>
          <a:xfrm>
            <a:off x="581025" y="3547169"/>
            <a:ext cx="316914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2"/>
          <p:cNvSpPr/>
          <p:nvPr/>
        </p:nvSpPr>
        <p:spPr>
          <a:xfrm>
            <a:off x="3750171" y="3547169"/>
            <a:ext cx="360714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2"/>
          <p:cNvSpPr/>
          <p:nvPr/>
        </p:nvSpPr>
        <p:spPr>
          <a:xfrm>
            <a:off x="7357318" y="3547169"/>
            <a:ext cx="223093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9588251" y="3547169"/>
            <a:ext cx="202272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581025" y="4094857"/>
            <a:ext cx="31691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2"/>
          <p:cNvSpPr/>
          <p:nvPr/>
        </p:nvSpPr>
        <p:spPr>
          <a:xfrm>
            <a:off x="3750171" y="4094857"/>
            <a:ext cx="360714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2"/>
          <p:cNvSpPr/>
          <p:nvPr/>
        </p:nvSpPr>
        <p:spPr>
          <a:xfrm>
            <a:off x="7357318" y="4094857"/>
            <a:ext cx="22309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2"/>
          <p:cNvSpPr/>
          <p:nvPr/>
        </p:nvSpPr>
        <p:spPr>
          <a:xfrm>
            <a:off x="9588251" y="4094857"/>
            <a:ext cx="2022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581025" y="4628257"/>
            <a:ext cx="31691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2"/>
          <p:cNvSpPr/>
          <p:nvPr/>
        </p:nvSpPr>
        <p:spPr>
          <a:xfrm>
            <a:off x="3750171" y="4628257"/>
            <a:ext cx="360714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7357318" y="4628257"/>
            <a:ext cx="22309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9588251" y="4628257"/>
            <a:ext cx="2022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581025" y="5161657"/>
            <a:ext cx="31691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3750171" y="5161657"/>
            <a:ext cx="360714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2"/>
          <p:cNvSpPr/>
          <p:nvPr/>
        </p:nvSpPr>
        <p:spPr>
          <a:xfrm>
            <a:off x="7357318" y="5161657"/>
            <a:ext cx="22309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2"/>
          <p:cNvSpPr/>
          <p:nvPr/>
        </p:nvSpPr>
        <p:spPr>
          <a:xfrm>
            <a:off x="9588251" y="5161657"/>
            <a:ext cx="2022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9" name="Google Shape;6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LIMITATIONS</a:t>
            </a:r>
            <a:endParaRPr/>
          </a:p>
        </p:txBody>
      </p:sp>
      <p:sp>
        <p:nvSpPr>
          <p:cNvPr id="691" name="Google Shape;691;p53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3"/>
          <p:cNvSpPr txBox="1"/>
          <p:nvPr/>
        </p:nvSpPr>
        <p:spPr>
          <a:xfrm>
            <a:off x="1009650" y="299948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"Black Swan" Events: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System cannot predict unprecedented global crises.</a:t>
            </a:r>
            <a:endParaRPr/>
          </a:p>
        </p:txBody>
      </p:sp>
      <p:sp>
        <p:nvSpPr>
          <p:cNvPr id="693" name="Google Shape;693;p53"/>
          <p:cNvSpPr txBox="1"/>
          <p:nvPr/>
        </p:nvSpPr>
        <p:spPr>
          <a:xfrm>
            <a:off x="1009650" y="354240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Sarcasm Detection: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NLP still struggles with advanced linguistic nuances.</a:t>
            </a:r>
            <a:endParaRPr/>
          </a:p>
        </p:txBody>
      </p:sp>
      <p:sp>
        <p:nvSpPr>
          <p:cNvPr id="694" name="Google Shape;694;p53"/>
          <p:cNvSpPr txBox="1"/>
          <p:nvPr/>
        </p:nvSpPr>
        <p:spPr>
          <a:xfrm>
            <a:off x="1009650" y="408533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Data Cost: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Premium real-time data feeds carry high operational costs.</a:t>
            </a:r>
            <a:endParaRPr/>
          </a:p>
        </p:txBody>
      </p:sp>
      <p:sp>
        <p:nvSpPr>
          <p:cNvPr id="695" name="Google Shape;695;p53"/>
          <p:cNvSpPr txBox="1"/>
          <p:nvPr/>
        </p:nvSpPr>
        <p:spPr>
          <a:xfrm>
            <a:off x="1009650" y="462825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Compute Power: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High-frequency training requires specialized GPU hardware.</a:t>
            </a:r>
            <a:endParaRPr/>
          </a:p>
        </p:txBody>
      </p:sp>
      <p:pic>
        <p:nvPicPr>
          <p:cNvPr descr="image.png" id="696" name="Google Shape;69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375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7" name="Google Shape;69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805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8" name="Google Shape;69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34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9" name="Google Shape;69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6635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ANALYSIS OF EDGE CASES</a:t>
            </a:r>
            <a:endParaRPr/>
          </a:p>
        </p:txBody>
      </p:sp>
      <p:sp>
        <p:nvSpPr>
          <p:cNvPr id="706" name="Google Shape;706;p5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07" name="Google Shape;70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393751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4"/>
          <p:cNvSpPr txBox="1"/>
          <p:nvPr/>
        </p:nvSpPr>
        <p:spPr>
          <a:xfrm>
            <a:off x="1809750" y="3803451"/>
            <a:ext cx="85725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During the "Flash Crash" simulation, the system successfully identified a </a:t>
            </a:r>
            <a:r>
              <a:rPr b="0" i="0" lang="en-US" sz="21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high-volatility sell-off</a:t>
            </a:r>
            <a:r>
              <a:rPr b="0" i="0" lang="en-US" sz="21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but was limited by the API's update frequency, highlighting the need for local real-time ingestion.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/>
          <p:nvPr/>
        </p:nvSpPr>
        <p:spPr>
          <a:xfrm>
            <a:off x="5381625" y="2261294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5"/>
          <p:cNvSpPr txBox="1"/>
          <p:nvPr/>
        </p:nvSpPr>
        <p:spPr>
          <a:xfrm>
            <a:off x="305276" y="2585144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716" name="Google Shape;716;p55"/>
          <p:cNvSpPr txBox="1"/>
          <p:nvPr/>
        </p:nvSpPr>
        <p:spPr>
          <a:xfrm>
            <a:off x="2286000" y="36138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Inter Light"/>
                <a:ea typeface="Inter Light"/>
                <a:cs typeface="Inter Light"/>
                <a:sym typeface="Inter Light"/>
              </a:rPr>
              <a:t>A robust validation of the hypothesis that Hybrid AI systems provide superior alpha generation in modern equity markets.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1" name="Google Shape;7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2" name="Google Shape;72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94682"/>
            <a:ext cx="34861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3" name="Google Shape;72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94682"/>
            <a:ext cx="34861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4" name="Google Shape;72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694682"/>
            <a:ext cx="348615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6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DELIVERABLES</a:t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6"/>
          <p:cNvSpPr txBox="1"/>
          <p:nvPr/>
        </p:nvSpPr>
        <p:spPr>
          <a:xfrm>
            <a:off x="971550" y="37329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Source Code</a:t>
            </a:r>
            <a:endParaRPr/>
          </a:p>
        </p:txBody>
      </p:sp>
      <p:sp>
        <p:nvSpPr>
          <p:cNvPr id="728" name="Google Shape;728;p56"/>
          <p:cNvSpPr txBox="1"/>
          <p:nvPr/>
        </p:nvSpPr>
        <p:spPr>
          <a:xfrm>
            <a:off x="971550" y="428535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Full Python/TensorFlow repository with API scripts.</a:t>
            </a:r>
            <a:endParaRPr/>
          </a:p>
        </p:txBody>
      </p:sp>
      <p:sp>
        <p:nvSpPr>
          <p:cNvPr id="729" name="Google Shape;729;p56"/>
          <p:cNvSpPr txBox="1"/>
          <p:nvPr/>
        </p:nvSpPr>
        <p:spPr>
          <a:xfrm>
            <a:off x="4743450" y="37329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Research Paper</a:t>
            </a:r>
            <a:endParaRPr/>
          </a:p>
        </p:txBody>
      </p:sp>
      <p:sp>
        <p:nvSpPr>
          <p:cNvPr id="730" name="Google Shape;730;p56"/>
          <p:cNvSpPr txBox="1"/>
          <p:nvPr/>
        </p:nvSpPr>
        <p:spPr>
          <a:xfrm>
            <a:off x="4743450" y="428535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Complete documentation of findings and methodology.</a:t>
            </a:r>
            <a:endParaRPr/>
          </a:p>
        </p:txBody>
      </p:sp>
      <p:sp>
        <p:nvSpPr>
          <p:cNvPr id="731" name="Google Shape;731;p56"/>
          <p:cNvSpPr txBox="1"/>
          <p:nvPr/>
        </p:nvSpPr>
        <p:spPr>
          <a:xfrm>
            <a:off x="8515350" y="373290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Live Dashboard</a:t>
            </a:r>
            <a:endParaRPr/>
          </a:p>
        </p:txBody>
      </p:sp>
      <p:sp>
        <p:nvSpPr>
          <p:cNvPr id="732" name="Google Shape;732;p56"/>
          <p:cNvSpPr txBox="1"/>
          <p:nvPr/>
        </p:nvSpPr>
        <p:spPr>
          <a:xfrm>
            <a:off x="8515350" y="4285357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Production-ready web interface for end-users.</a:t>
            </a:r>
            <a:endParaRPr/>
          </a:p>
        </p:txBody>
      </p:sp>
      <p:pic>
        <p:nvPicPr>
          <p:cNvPr descr="image.png" id="733" name="Google Shape;73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11378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31137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5" name="Google Shape;735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311378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0" name="Google Shape;7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7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VALUE PROPOSITION</a:t>
            </a:r>
            <a:endParaRPr/>
          </a:p>
        </p:txBody>
      </p:sp>
      <p:sp>
        <p:nvSpPr>
          <p:cNvPr id="742" name="Google Shape;742;p57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7"/>
          <p:cNvSpPr txBox="1"/>
          <p:nvPr/>
        </p:nvSpPr>
        <p:spPr>
          <a:xfrm>
            <a:off x="581025" y="3280469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2.5X</a:t>
            </a:r>
            <a:endParaRPr/>
          </a:p>
        </p:txBody>
      </p:sp>
      <p:sp>
        <p:nvSpPr>
          <p:cNvPr id="744" name="Google Shape;744;p57"/>
          <p:cNvSpPr txBox="1"/>
          <p:nvPr/>
        </p:nvSpPr>
        <p:spPr>
          <a:xfrm>
            <a:off x="581025" y="4613969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Sharpe Ratio Improvement</a:t>
            </a:r>
            <a:endParaRPr/>
          </a:p>
        </p:txBody>
      </p:sp>
      <p:sp>
        <p:nvSpPr>
          <p:cNvPr id="745" name="Google Shape;745;p57"/>
          <p:cNvSpPr txBox="1"/>
          <p:nvPr/>
        </p:nvSpPr>
        <p:spPr>
          <a:xfrm>
            <a:off x="6810375" y="3118544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Institutional-grade analysis for retail investors.</a:t>
            </a:r>
            <a:endParaRPr/>
          </a:p>
        </p:txBody>
      </p:sp>
      <p:sp>
        <p:nvSpPr>
          <p:cNvPr id="746" name="Google Shape;746;p57"/>
          <p:cNvSpPr txBox="1"/>
          <p:nvPr/>
        </p:nvSpPr>
        <p:spPr>
          <a:xfrm>
            <a:off x="6810375" y="3661469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Removal of emotional bias from decision making.</a:t>
            </a:r>
            <a:endParaRPr/>
          </a:p>
        </p:txBody>
      </p:sp>
      <p:sp>
        <p:nvSpPr>
          <p:cNvPr id="747" name="Google Shape;747;p57"/>
          <p:cNvSpPr txBox="1"/>
          <p:nvPr/>
        </p:nvSpPr>
        <p:spPr>
          <a:xfrm>
            <a:off x="6810375" y="4204394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Automated surveillance of thousands of news sources.</a:t>
            </a:r>
            <a:endParaRPr/>
          </a:p>
        </p:txBody>
      </p:sp>
      <p:pic>
        <p:nvPicPr>
          <p:cNvPr descr="image.png" id="748" name="Google Shape;74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5664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9" name="Google Shape;74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995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0" name="Google Shape;75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24249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5" name="Google Shape;75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8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USER RECOMMENDATIONS</a:t>
            </a:r>
            <a:endParaRPr/>
          </a:p>
        </p:txBody>
      </p:sp>
      <p:sp>
        <p:nvSpPr>
          <p:cNvPr id="757" name="Google Shape;757;p58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8"/>
          <p:cNvSpPr txBox="1"/>
          <p:nvPr/>
        </p:nvSpPr>
        <p:spPr>
          <a:xfrm>
            <a:off x="1009650" y="299948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Use as Support: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Recommendation signals should verify, not replace, fundamental research.</a:t>
            </a:r>
            <a:endParaRPr/>
          </a:p>
        </p:txBody>
      </p:sp>
      <p:sp>
        <p:nvSpPr>
          <p:cNvPr id="759" name="Google Shape;759;p58"/>
          <p:cNvSpPr txBox="1"/>
          <p:nvPr/>
        </p:nvSpPr>
        <p:spPr>
          <a:xfrm>
            <a:off x="1009650" y="354240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Risk Sizing: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Never allocate more than 5% of portfolio to a single AI signal.</a:t>
            </a:r>
            <a:endParaRPr/>
          </a:p>
        </p:txBody>
      </p:sp>
      <p:sp>
        <p:nvSpPr>
          <p:cNvPr id="760" name="Google Shape;760;p58"/>
          <p:cNvSpPr txBox="1"/>
          <p:nvPr/>
        </p:nvSpPr>
        <p:spPr>
          <a:xfrm>
            <a:off x="1009650" y="408533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Time Horizon: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System is optimized for 3-10 day swing trading windows.</a:t>
            </a:r>
            <a:endParaRPr/>
          </a:p>
        </p:txBody>
      </p:sp>
      <p:sp>
        <p:nvSpPr>
          <p:cNvPr id="761" name="Google Shape;761;p58"/>
          <p:cNvSpPr txBox="1"/>
          <p:nvPr/>
        </p:nvSpPr>
        <p:spPr>
          <a:xfrm>
            <a:off x="1009650" y="462825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Cross-Validation: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Check signals across multiple sectors for broad market context.</a:t>
            </a:r>
            <a:endParaRPr/>
          </a:p>
        </p:txBody>
      </p:sp>
      <p:pic>
        <p:nvPicPr>
          <p:cNvPr descr="image.png" id="762" name="Google Shape;76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3758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3" name="Google Shape;76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8050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4" name="Google Shape;76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343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5" name="Google Shape;76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66357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0" name="Google Shape;7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1" name="Google Shape;77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2" name="Google Shape;772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3837"/>
            <a:ext cx="5229225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SCALING</a:t>
            </a:r>
            <a:endParaRPr/>
          </a:p>
        </p:txBody>
      </p:sp>
      <p:sp>
        <p:nvSpPr>
          <p:cNvPr id="774" name="Google Shape;774;p59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9"/>
          <p:cNvSpPr txBox="1"/>
          <p:nvPr/>
        </p:nvSpPr>
        <p:spPr>
          <a:xfrm>
            <a:off x="971550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Multi-Asset Class</a:t>
            </a:r>
            <a:endParaRPr/>
          </a:p>
        </p:txBody>
      </p:sp>
      <p:sp>
        <p:nvSpPr>
          <p:cNvPr id="776" name="Google Shape;776;p59"/>
          <p:cNvSpPr txBox="1"/>
          <p:nvPr/>
        </p:nvSpPr>
        <p:spPr>
          <a:xfrm>
            <a:off x="971550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Expanding the LSTM logic to include Cryptocurrencies and Commodities futures.</a:t>
            </a:r>
            <a:endParaRPr/>
          </a:p>
        </p:txBody>
      </p:sp>
      <p:sp>
        <p:nvSpPr>
          <p:cNvPr id="777" name="Google Shape;777;p59"/>
          <p:cNvSpPr txBox="1"/>
          <p:nvPr/>
        </p:nvSpPr>
        <p:spPr>
          <a:xfrm>
            <a:off x="6772275" y="22843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Real-Time Tick Data</a:t>
            </a:r>
            <a:endParaRPr/>
          </a:p>
        </p:txBody>
      </p:sp>
      <p:sp>
        <p:nvSpPr>
          <p:cNvPr id="778" name="Google Shape;778;p59"/>
          <p:cNvSpPr txBox="1"/>
          <p:nvPr/>
        </p:nvSpPr>
        <p:spPr>
          <a:xfrm>
            <a:off x="6772275" y="283681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Transitioning from daily candles to 1-minute tick data for intraday scalping signals.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83" name="Google Shape;78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0"/>
          <p:cNvSpPr txBox="1"/>
          <p:nvPr/>
        </p:nvSpPr>
        <p:spPr>
          <a:xfrm>
            <a:off x="771525" y="1742182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NEXT GEN AI FEATURES</a:t>
            </a:r>
            <a:endParaRPr/>
          </a:p>
        </p:txBody>
      </p:sp>
      <p:sp>
        <p:nvSpPr>
          <p:cNvPr id="786" name="Google Shape;786;p60"/>
          <p:cNvSpPr/>
          <p:nvPr/>
        </p:nvSpPr>
        <p:spPr>
          <a:xfrm>
            <a:off x="581025" y="1742182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0"/>
          <p:cNvSpPr txBox="1"/>
          <p:nvPr/>
        </p:nvSpPr>
        <p:spPr>
          <a:xfrm>
            <a:off x="581025" y="341858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Integration of Reinforcement Learning (RL) for automated portfolio rebalancing.</a:t>
            </a:r>
            <a:endParaRPr/>
          </a:p>
        </p:txBody>
      </p:sp>
      <p:sp>
        <p:nvSpPr>
          <p:cNvPr id="788" name="Google Shape;788;p60"/>
          <p:cNvSpPr txBox="1"/>
          <p:nvPr/>
        </p:nvSpPr>
        <p:spPr>
          <a:xfrm>
            <a:off x="581025" y="440918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Incorporating Multi-modal models that can analyze live financial television broadcasts for instant sentiment shifts.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3" name="Google Shape;79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KEY REFERENCES</a:t>
            </a:r>
            <a:endParaRPr/>
          </a:p>
        </p:txBody>
      </p:sp>
      <p:sp>
        <p:nvSpPr>
          <p:cNvPr id="795" name="Google Shape;795;p61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1"/>
          <p:cNvSpPr txBox="1"/>
          <p:nvPr/>
        </p:nvSpPr>
        <p:spPr>
          <a:xfrm>
            <a:off x="1009650" y="2728019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Hochreiter, S., &amp; Schmidhuber, J. (1997). Long Short-Term Memory.</a:t>
            </a:r>
            <a:endParaRPr/>
          </a:p>
        </p:txBody>
      </p:sp>
      <p:sp>
        <p:nvSpPr>
          <p:cNvPr id="797" name="Google Shape;797;p61"/>
          <p:cNvSpPr txBox="1"/>
          <p:nvPr/>
        </p:nvSpPr>
        <p:spPr>
          <a:xfrm>
            <a:off x="1009650" y="3270944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Hutto, C.J. &amp; Gilbert, E.E. (2014). VADER: A Parsimonious Rule-based Model for Sentiment Analysis.</a:t>
            </a:r>
            <a:endParaRPr/>
          </a:p>
        </p:txBody>
      </p:sp>
      <p:sp>
        <p:nvSpPr>
          <p:cNvPr id="798" name="Google Shape;798;p61"/>
          <p:cNvSpPr txBox="1"/>
          <p:nvPr/>
        </p:nvSpPr>
        <p:spPr>
          <a:xfrm>
            <a:off x="1009650" y="3813869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Malkiel, B. G. (1973). A Random Walk Down Wall Street.</a:t>
            </a:r>
            <a:endParaRPr/>
          </a:p>
        </p:txBody>
      </p:sp>
      <p:sp>
        <p:nvSpPr>
          <p:cNvPr id="799" name="Google Shape;799;p61"/>
          <p:cNvSpPr txBox="1"/>
          <p:nvPr/>
        </p:nvSpPr>
        <p:spPr>
          <a:xfrm>
            <a:off x="1009650" y="4356794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Chollet, F. (2017). Deep Learning with Python. Manning Publications.</a:t>
            </a:r>
            <a:endParaRPr/>
          </a:p>
        </p:txBody>
      </p:sp>
      <p:sp>
        <p:nvSpPr>
          <p:cNvPr id="800" name="Google Shape;800;p61"/>
          <p:cNvSpPr txBox="1"/>
          <p:nvPr/>
        </p:nvSpPr>
        <p:spPr>
          <a:xfrm>
            <a:off x="1009650" y="4899719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Graham, B. (1949). The Intelligent Investor.</a:t>
            </a:r>
            <a:endParaRPr/>
          </a:p>
        </p:txBody>
      </p:sp>
      <p:pic>
        <p:nvPicPr>
          <p:cNvPr descr="image.png" id="801" name="Google Shape;80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6611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2" name="Google Shape;80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0904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3" name="Google Shape;80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5196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4" name="Google Shape;80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948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5" name="Google Shape;80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37819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0" name="Google Shape;81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2"/>
          <p:cNvSpPr txBox="1"/>
          <p:nvPr/>
        </p:nvSpPr>
        <p:spPr>
          <a:xfrm>
            <a:off x="305276" y="2064097"/>
            <a:ext cx="1158144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812" name="Google Shape;812;p62"/>
          <p:cNvSpPr txBox="1"/>
          <p:nvPr/>
        </p:nvSpPr>
        <p:spPr>
          <a:xfrm>
            <a:off x="581025" y="330234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Inter Light"/>
                <a:ea typeface="Inter Light"/>
                <a:cs typeface="Inter Light"/>
                <a:sym typeface="Inter Light"/>
              </a:rPr>
              <a:t>Questions? Let's discuss AI in Finance.</a:t>
            </a:r>
            <a:endParaRPr/>
          </a:p>
        </p:txBody>
      </p:sp>
      <p:pic>
        <p:nvPicPr>
          <p:cNvPr descr="image.png" id="813" name="Google Shape;81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662" y="45367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4" name="Google Shape;81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37" y="4536727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9" name="Google Shape;81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821" name="Google Shape;821;p63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81025" y="1893837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3"/>
          <p:cNvSpPr/>
          <p:nvPr/>
        </p:nvSpPr>
        <p:spPr>
          <a:xfrm>
            <a:off x="581025" y="287669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3"/>
          <p:cNvSpPr/>
          <p:nvPr/>
        </p:nvSpPr>
        <p:spPr>
          <a:xfrm>
            <a:off x="581025" y="366146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3"/>
          <p:cNvSpPr/>
          <p:nvPr/>
        </p:nvSpPr>
        <p:spPr>
          <a:xfrm>
            <a:off x="581025" y="444624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3"/>
          <p:cNvSpPr/>
          <p:nvPr/>
        </p:nvSpPr>
        <p:spPr>
          <a:xfrm>
            <a:off x="581025" y="542910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3"/>
          <p:cNvSpPr/>
          <p:nvPr/>
        </p:nvSpPr>
        <p:spPr>
          <a:xfrm>
            <a:off x="581025" y="286717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3"/>
          <p:cNvSpPr/>
          <p:nvPr/>
        </p:nvSpPr>
        <p:spPr>
          <a:xfrm>
            <a:off x="581025" y="286717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3"/>
          <p:cNvSpPr/>
          <p:nvPr/>
        </p:nvSpPr>
        <p:spPr>
          <a:xfrm>
            <a:off x="581025" y="365194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3"/>
          <p:cNvSpPr/>
          <p:nvPr/>
        </p:nvSpPr>
        <p:spPr>
          <a:xfrm>
            <a:off x="581025" y="365194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63"/>
          <p:cNvSpPr/>
          <p:nvPr/>
        </p:nvSpPr>
        <p:spPr>
          <a:xfrm>
            <a:off x="581025" y="44367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63"/>
          <p:cNvSpPr/>
          <p:nvPr/>
        </p:nvSpPr>
        <p:spPr>
          <a:xfrm>
            <a:off x="581025" y="44367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3"/>
          <p:cNvSpPr/>
          <p:nvPr/>
        </p:nvSpPr>
        <p:spPr>
          <a:xfrm>
            <a:off x="581025" y="54195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3"/>
          <p:cNvSpPr/>
          <p:nvPr/>
        </p:nvSpPr>
        <p:spPr>
          <a:xfrm>
            <a:off x="581025" y="54195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63"/>
          <p:cNvSpPr/>
          <p:nvPr/>
        </p:nvSpPr>
        <p:spPr>
          <a:xfrm>
            <a:off x="581025" y="620434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63"/>
          <p:cNvSpPr/>
          <p:nvPr/>
        </p:nvSpPr>
        <p:spPr>
          <a:xfrm>
            <a:off x="581025" y="620434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37" name="Google Shape;83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423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3"/>
          <p:cNvSpPr txBox="1"/>
          <p:nvPr/>
        </p:nvSpPr>
        <p:spPr>
          <a:xfrm>
            <a:off x="1676400" y="2036712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https://static.vecteezy.com/system/resources/previews/071/810/574/large_2x/experience-a-vibrant-visual-representation-of-a-stock-market-candlestick-chart-illuminated-in-various-colors-illustrating-real-time-market-trends-with-a-futuristic-aesthetic-photo.jpeg</a:t>
            </a:r>
            <a:endParaRPr/>
          </a:p>
        </p:txBody>
      </p:sp>
      <p:sp>
        <p:nvSpPr>
          <p:cNvPr id="839" name="Google Shape;839;p63"/>
          <p:cNvSpPr txBox="1"/>
          <p:nvPr/>
        </p:nvSpPr>
        <p:spPr>
          <a:xfrm>
            <a:off x="1676400" y="248051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840" name="Google Shape;84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261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63"/>
          <p:cNvSpPr txBox="1"/>
          <p:nvPr/>
        </p:nvSpPr>
        <p:spPr>
          <a:xfrm>
            <a:off x="1676400" y="301957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https://miro.medium.com/1*laH0_xXEkFE0lKJu54gkFQ.png</a:t>
            </a:r>
            <a:endParaRPr/>
          </a:p>
        </p:txBody>
      </p:sp>
      <p:sp>
        <p:nvSpPr>
          <p:cNvPr id="842" name="Google Shape;842;p63"/>
          <p:cNvSpPr txBox="1"/>
          <p:nvPr/>
        </p:nvSpPr>
        <p:spPr>
          <a:xfrm>
            <a:off x="1676400" y="326528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blog.mlreview.com</a:t>
            </a:r>
            <a:endParaRPr/>
          </a:p>
        </p:txBody>
      </p:sp>
      <p:pic>
        <p:nvPicPr>
          <p:cNvPr descr="image.png" id="843" name="Google Shape;843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08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63"/>
          <p:cNvSpPr txBox="1"/>
          <p:nvPr/>
        </p:nvSpPr>
        <p:spPr>
          <a:xfrm>
            <a:off x="1676400" y="380434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https://www.slideteam.net/media/catalog/product/cache/1280x720/d/a/dashboard_to_track_sentiment_analysis_process_slide01.jpg</a:t>
            </a:r>
            <a:endParaRPr/>
          </a:p>
        </p:txBody>
      </p:sp>
      <p:sp>
        <p:nvSpPr>
          <p:cNvPr id="845" name="Google Shape;845;p63"/>
          <p:cNvSpPr txBox="1"/>
          <p:nvPr/>
        </p:nvSpPr>
        <p:spPr>
          <a:xfrm>
            <a:off x="1676400" y="405005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www.slideteam.net</a:t>
            </a:r>
            <a:endParaRPr/>
          </a:p>
        </p:txBody>
      </p:sp>
      <p:pic>
        <p:nvPicPr>
          <p:cNvPr descr="image.png" id="846" name="Google Shape;846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947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63"/>
          <p:cNvSpPr txBox="1"/>
          <p:nvPr/>
        </p:nvSpPr>
        <p:spPr>
          <a:xfrm>
            <a:off x="1676400" y="458911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https://static.vecteezy.com/system/resources/previews/050/442/116/large_2x/modern-data-center-with-server-racks-and-blue-led-lights-for-cloud-computing-and-data-storage-photo.jpg</a:t>
            </a:r>
            <a:endParaRPr/>
          </a:p>
        </p:txBody>
      </p:sp>
      <p:sp>
        <p:nvSpPr>
          <p:cNvPr id="848" name="Google Shape;848;p63"/>
          <p:cNvSpPr txBox="1"/>
          <p:nvPr/>
        </p:nvSpPr>
        <p:spPr>
          <a:xfrm>
            <a:off x="1676400" y="503292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849" name="Google Shape;849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57852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3"/>
          <p:cNvSpPr txBox="1"/>
          <p:nvPr/>
        </p:nvSpPr>
        <p:spPr>
          <a:xfrm>
            <a:off x="1676400" y="557197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https://cdn.dribbble.com/userupload/14330946/file/original-994485d6b1b34f7f9be3c5bb0b07c45a.jpg</a:t>
            </a:r>
            <a:endParaRPr/>
          </a:p>
        </p:txBody>
      </p:sp>
      <p:sp>
        <p:nvSpPr>
          <p:cNvPr id="851" name="Google Shape;851;p63"/>
          <p:cNvSpPr txBox="1"/>
          <p:nvPr/>
        </p:nvSpPr>
        <p:spPr>
          <a:xfrm>
            <a:off x="1676400" y="581769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852" name="Google Shape;852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63632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63"/>
          <p:cNvSpPr txBox="1"/>
          <p:nvPr/>
        </p:nvSpPr>
        <p:spPr>
          <a:xfrm>
            <a:off x="1676400" y="635674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https://prezentium.com/wp-content/uploads/2024/11/gantt-chart.webp</a:t>
            </a:r>
            <a:endParaRPr/>
          </a:p>
        </p:txBody>
      </p:sp>
      <p:sp>
        <p:nvSpPr>
          <p:cNvPr id="854" name="Google Shape;854;p63"/>
          <p:cNvSpPr txBox="1"/>
          <p:nvPr/>
        </p:nvSpPr>
        <p:spPr>
          <a:xfrm>
            <a:off x="1676400" y="660246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prezentium.com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9" name="Google Shape;8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4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861" name="Google Shape;861;p64"/>
          <p:cNvSpPr/>
          <p:nvPr/>
        </p:nvSpPr>
        <p:spPr>
          <a:xfrm>
            <a:off x="581025" y="96038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4"/>
          <p:cNvSpPr/>
          <p:nvPr/>
        </p:nvSpPr>
        <p:spPr>
          <a:xfrm>
            <a:off x="581025" y="320635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4"/>
          <p:cNvSpPr/>
          <p:nvPr/>
        </p:nvSpPr>
        <p:spPr>
          <a:xfrm>
            <a:off x="581025" y="417968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4"/>
          <p:cNvSpPr/>
          <p:nvPr/>
        </p:nvSpPr>
        <p:spPr>
          <a:xfrm>
            <a:off x="581025" y="417968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5" name="Google Shape;86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548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64"/>
          <p:cNvSpPr txBox="1"/>
          <p:nvPr/>
        </p:nvSpPr>
        <p:spPr>
          <a:xfrm>
            <a:off x="1676400" y="334922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https://static.vecteezy.com/system/resources/previews/037/484/430/large_2x/ai-generated-cyberspace-data-science-internet-connection-cloud-networking-artificial-intelligence-futuristic-blue-color-abstract-digital-technology-background-photo.jpg</a:t>
            </a:r>
            <a:endParaRPr/>
          </a:p>
        </p:txBody>
      </p:sp>
      <p:sp>
        <p:nvSpPr>
          <p:cNvPr id="867" name="Google Shape;867;p64"/>
          <p:cNvSpPr txBox="1"/>
          <p:nvPr/>
        </p:nvSpPr>
        <p:spPr>
          <a:xfrm>
            <a:off x="1676400" y="379303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868" name="Google Shape;868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38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64"/>
          <p:cNvSpPr txBox="1"/>
          <p:nvPr/>
        </p:nvSpPr>
        <p:spPr>
          <a:xfrm>
            <a:off x="1676400" y="433208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https://vfunction.com/wp-content/uploads/2025/01/aws-example-diagram-1024x594.webp</a:t>
            </a:r>
            <a:endParaRPr/>
          </a:p>
        </p:txBody>
      </p:sp>
      <p:sp>
        <p:nvSpPr>
          <p:cNvPr id="870" name="Google Shape;870;p64"/>
          <p:cNvSpPr txBox="1"/>
          <p:nvPr/>
        </p:nvSpPr>
        <p:spPr>
          <a:xfrm>
            <a:off x="1676400" y="457780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vfunction.com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